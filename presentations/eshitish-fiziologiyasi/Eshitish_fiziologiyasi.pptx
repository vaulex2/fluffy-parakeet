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228600" cy="237744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603504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5000" b="1" i="0">
                <a:solidFill>
                  <a:srgbClr val="FFFFFF"/>
                </a:solidFill>
                <a:latin typeface="DejaVu Sans"/>
              </a:rPr>
              <a:t>Eshitish fiziologiyasi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100" b="0" i="0">
                <a:solidFill>
                  <a:srgbClr val="CFE5EA"/>
                </a:solidFill>
                <a:latin typeface="DejaVu Sans"/>
              </a:rPr>
              <a:t>Quloqning tuzilishi va tovushni idrok etish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5486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DC4CB"/>
                </a:solidFill>
                <a:latin typeface="DejaVu Sans"/>
              </a:rPr>
              <a:t>Muallif: ______________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DC4CB"/>
                </a:solidFill>
                <a:latin typeface="DejaVu Sans"/>
              </a:rPr>
              <a:t>Sana: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32273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Quloqning umumiy tuzilishi: tashqi, oʻrta va ichki quloq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37667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2714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Tovushning oʻtkazilishi va impedans moslashuvi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43061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28108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Chigʻanoq va Korti organi tuzilishi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48456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33502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Mexanotransduksiya — mexanik signalning elektrga aylanishi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353850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38897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Bazilyar membrana va tonotopiya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59244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44291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Eshitish nervi va markaziy eshitish yoʻli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764638"/>
            <a:ext cx="475488" cy="47548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DejaVu San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649685"/>
            <a:ext cx="10241280" cy="70539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62A31"/>
                </a:solidFill>
                <a:latin typeface="DejaVu Sans"/>
              </a:rPr>
              <a:t>Tovushni idrok etish va eshitish buzilishlari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Quloqning umumiy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Tashqi quloq (auris externa)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tovushni yigʻadi va eshitish yoʻli orqali nogʻora pardaga yoʻnaltiradi.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Oʻrta quloq (auris media)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havodagi tebranishni eshitish suyakchalari orqali ichki quloqqa uzatadi.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Ichki quloq (auris interna)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chigʻanoqda tovush mexanik energiyasi nerv impulsiga aylanadi.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a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0077"/>
            <a:ext cx="5120640" cy="30350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989320"/>
            <a:ext cx="11183112" cy="566928"/>
          </a:xfrm>
          <a:prstGeom prst="round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16752"/>
            <a:ext cx="10789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3525E"/>
                </a:solidFill>
                <a:latin typeface="DejaVu Sans"/>
              </a:rPr>
              <a:t>Tovush yoʻli: havo → mexanik tebranish → suyuqlik toʻlqini → nerv impulsi.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Tashqi quloq (auris externa)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Quloq suprasi (auricula)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tovush toʻlqinlarini yigʻadi va manbaning fazoviy joyini aniqlashga yordam beradi.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Tashqi eshitish yoʻli (meatus acusticus externus)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uzunligi ~2.5 sm; tovushni nogʻora pardaga olib boradi.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Rezonans xususiyati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eshitish yoʻli ~2–5 kHz chastotalarni tabiiy ravishda 10–15 dB ga kuchaytiradi — nutqni eshitish uchun muhim.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Himoya vazifasi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quloq kiri (cerumen) va tuklar chang hamda mikroblardan himoya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Oʻrta quloq (auris media)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Nogʻora parda (membrana tympani)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tovush toʻlqinlari taʼsirida tebranadi.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Eshitish suyakchalari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bolgʻacha (malleus) → sandon (incus) → uzangi (stapes) zanjiri tebranishni uzatadi.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Uzangi asosi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oval oyna (fenestra ovalis) orqali ichki quloq suyuqligiga bosadi.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Mushaklar va akustik refleks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m. tensor tympani va m. stapedius kuchli tovushda suyakchalar harakatini cheklab, ichki quloqni himoya qiladi.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Yevstaxiy nayi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oʻrta quloq boʻshligʻidagi bosimni atmosfera bosimi bilan tenglashtiradi.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ss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22754"/>
            <a:ext cx="5120640" cy="2869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Impedans moslashuvi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Muammo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havo (past impedans) tebranishi toʻgʻridan-toʻgʻri suyuqlikka (yuqori impedans) oʻtsa, energiyaning ~99.9% qaytarilib yoʻqoladi (~30 dB).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Yechim — maydon nisbati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nogʻora parda yuzasi uzangi asosidan ~17 baravar katta; bosim shuncha jamlanadi.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Richag taʼsiri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suyakchalar richagi bosimni yana ~1.3 baravar oshiradi.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Umumiy natija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tovush bosimi ~22 baravar (≈25–30 dB) kuchayadi — energiya yoʻqotilishi qoplanadi.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22754"/>
            <a:ext cx="5120640" cy="2869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Ichki quloq — labirint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Suyak labirint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chakka suyagi ichidagi kanallar tizimi; ichida perilimfa (yuqori Na⁺) boʻladi.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Parda labirint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suyak labirint ichidagi pardali tuzilma; ichida endolimfa (yuqori K⁺) boʻladi.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Chigʻanoq (cochlea)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eshitish aʼzosi — spiral shaklda ~2.5 marta oʻralgan.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Vestibulyar apparat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yarim doira kanallari va otolit aʼzolari muvozanat (gravitatsiya, harakat) uchun — eshitishga aloqador emas.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Chigʻanoq tuzilishi (cochlea)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Uchta kanal (scala)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scala vestibuli va scala tympani — perilimfa; scala media — endolimfa.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Reissner membranasi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scala media ni scala vestibuli dan ajratadi.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Bazilyar membrana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scala media ni scala tympani dan ajratadi; ustida Korti organi joylashgan.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Helikotrema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chigʻanoq choʻqqisida scala vestibuli va scala tympani ni tutashtiradi.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chlea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0072"/>
            <a:ext cx="5120640" cy="3115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Korti organi (organ of Corti)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Ichki tukli hujayralar (IHC)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~3500 ta, bir qator; asosiy sezgi hujayralari — eshitish nervining ~95% afferent tolalari shulardan chiqadi.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Tashqi tukli hujayralar (OHC)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~12000 ta, uch qator; tebranishni kuchaytiradi (koxlear kuchaytirgich).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Stereosiliyalar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tukli hujayralar ustidagi tuklar; eng uzunlari tektorial membranaga tegadi.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Tektorial va bazilyar membrana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ular orasidagi siljish stereosiliyalarni egadi — transduksiya boshlanadi.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gan_cor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82724"/>
            <a:ext cx="5120640" cy="3349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Tovushning oʻtkazilishi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rgbClr val="13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1554480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Tovush toʻlqini eshitish yoʻliga kiradi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85416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2185416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Nogʻora parda tebranadi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rgbClr val="2E86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16352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Suyakchalar (malleus–incus–stapes) tebranishni uzatadi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47288"/>
            <a:ext cx="566928" cy="566928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2B36"/>
                </a:solidFill>
                <a:latin typeface="DejaVu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3447288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Uzangi oval oynaga bosadi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4078224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Perilimfada bosim toʻlqini paydo boʻladi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09160"/>
            <a:ext cx="566928" cy="566928"/>
          </a:xfrm>
          <a:prstGeom prst="ellipse">
            <a:avLst/>
          </a:prstGeom>
          <a:solidFill>
            <a:srgbClr val="D3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4752" y="4709160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Bazilyar membranada «yuguruvchi toʻlqin» (G. von Békésy) yuzaga keladi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DejaVu Sans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4752" y="5340096"/>
            <a:ext cx="9985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62A31"/>
                </a:solidFill>
                <a:latin typeface="DejaVu Sans"/>
              </a:rPr>
              <a:t>Tukli hujayralar qoʻzgʻaladi → nerv impulsi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989320"/>
            <a:ext cx="11183112" cy="566928"/>
          </a:xfrm>
          <a:prstGeom prst="round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16752"/>
            <a:ext cx="10789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3525E"/>
                </a:solidFill>
                <a:latin typeface="DejaVu Sans"/>
              </a:rPr>
              <a:t>Yumaloq oyna (fenestra rotunda) suyuqlik harakatini muvozanatlash uchun «boʻshatadi».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Mexanotransduksiya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Stereosiliyalarning egilishi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yuguruvchi toʻlqin stereosiliyalarni bir tomonga egadi.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Uchlararo bogʻlar (tip-link)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qoʻshni stereosiliyalarni bogʻlab, egilishda mexanik tarang kanallarni (MET) ochadi.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K⁺ kirishi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endolimfadagi yuqori K⁺ hujayraga kirib, uni depolarizatsiya qiladi.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Endokoxlear potensial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scala media ~+80 mV ga zaryadlangan — K⁺ kirishi uchun kuchli harakatlantiruvchi kuch.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Neyromediator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depolarizatsiya Ca²⁺ kanallarini ochadi → glutamat ajraladi → eshitish nervi qoʻzgʻaladi.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chanotrans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0077"/>
            <a:ext cx="5120640" cy="30350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Bazilyar membrana va tonotopiya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Asos (tor va qattiq)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chigʻanoq asosida yuqori chastotalar (~20 kHz gacha) aks etadi.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Choʻqqi (keng va yumshoq)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chigʻanoq choʻqqisida past chastotalar (~20 Hz) aks etadi.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Tonotopik xarita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har bir chastota bazilyar membrananing aniq joyini maksimal tebrantiradi (joy nazariyasi).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Ahamiyati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bu tartib markaziy eshitish yoʻlining barcha bosqichlarida saqlanadi.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not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64092"/>
            <a:ext cx="5120640" cy="27870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Tashqi tukli hujayralar — koxlear kuchaytirgich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Elektromotillik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OHC depolarizatsiyada qisqaradi, giperpolarizatsiyada uzayadi — har bir tovush toʻlqinida uzunligini oʻzgartiradi.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Prestin oqsili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OHC membranasidagi motor oqsil shu tez harakatni taʼminlaydi.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Kuchaytirish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bazilyar membrana tebranishini ~100–1000 baravar (40–60 dB) kuchaytiradi va oʻtkirligini oshiradi.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9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900" b="1" i="0">
                <a:solidFill>
                  <a:srgbClr val="0F2B36"/>
                </a:solidFill>
                <a:latin typeface="DejaVu Sans"/>
              </a:rPr>
              <a:t>Otoakustik emissiya (OAE) — </a:t>
            </a:r>
            <a:r>
              <a:rPr sz="1900" b="0" i="0">
                <a:solidFill>
                  <a:srgbClr val="162A31"/>
                </a:solidFill>
                <a:latin typeface="DejaVu Sans"/>
              </a:rPr>
              <a:t>kuchaytirgich faolligi natijasida quloq oʻzi tovush chiqaradi — yangi tugʻilganlar skriningida qoʻllanadi.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Eshitish nervi va markaziy yoʻl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Spiral ganglion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tukli hujayralardan signalni oladi; aksonlari eshitish nervini (n. cochlearis, VIII) hosil qiladi.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Koʻtariluvchi yoʻl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cochlear yadrolar → yuqori olivar kompleks → lateral lemniscus → pastki tepalik (colliculus inferior) → medial tizzasimon tana.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Eshitish poʻstlogʻi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medial tizzasimon tanadan signal chakka boʻlagidagi birlamchi eshitish poʻstlogʻiga (Heschl pushtasi, A1) yetadi.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Ikki tomonlama tahlil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yuqori olivar kompleks ikki quloqdan kelgan vaqt (ITD) va kuch (ILD) farqini taqqoslab, tovush manbasini aniqlaydi.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7395"/>
            <a:ext cx="5120640" cy="32804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Tovushni idrok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5029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Balandlik (pitch)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chastotaga bogʻliq; joy kodlash (tonotopiya) va vaqt kodlash (fazaviy qulflanish) orqali aniqlanadi.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Kuchlilik (loudness)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tovush intensivligiga bogʻliq; detsibel (dB) shkalasida oʻlchanadi.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Manbani aniqlash (lokalizatsiya)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ITD — vaqt farqi (past chastota), ILD — kuch farqi (yuqori chastota).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E07A5F"/>
                </a:solidFill>
                <a:latin typeface="DejaVu Sans"/>
              </a:rPr>
              <a:t>▸  </a:t>
            </a:r>
            <a:r>
              <a:rPr sz="1500" b="1" i="0">
                <a:solidFill>
                  <a:srgbClr val="0F2B36"/>
                </a:solidFill>
                <a:latin typeface="DejaVu Sans"/>
              </a:rPr>
              <a:t>Eshitish diapazoni — </a:t>
            </a:r>
            <a:r>
              <a:rPr sz="1500" b="0" i="0">
                <a:solidFill>
                  <a:srgbClr val="162A31"/>
                </a:solidFill>
                <a:latin typeface="DejaVu Sans"/>
              </a:rPr>
              <a:t>inson ~20 Hz – 20 kHz oraligʻini eshitadi; eng sezgir soha ~2–4 kHz (nutq).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ring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7860"/>
            <a:ext cx="5120640" cy="3019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Eshitish buzilishlari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394960" cy="731520"/>
          </a:xfrm>
          <a:prstGeom prst="roundRect">
            <a:avLst/>
          </a:prstGeom>
          <a:solidFill>
            <a:srgbClr val="13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39496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Oʻtkazuvchi (konduktiv) karlik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3776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13525E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Tashqi yoki oʻrta quloq muammosi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13525E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Quloq kiri tiqilishi, otit, nogʻora parda yorilishi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13525E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Otoskleroz (suyakchalar qotishi)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13525E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Koʻpincha davolanadi (dori, jarrohlik)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731520"/>
          </a:xfrm>
          <a:prstGeom prst="round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39496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Sensonevral karlik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3949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93776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E07A5F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Ichki quloq yoki eshitish nervi shikasti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E07A5F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Presbiakuziya — yoshga bogʻliq karlik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E07A5F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Shovqindan kelib chiqqan shikast (tukli hujayralar nobud boʻladi)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E07A5F"/>
                </a:solidFill>
                <a:latin typeface="DejaVu Sans"/>
              </a:rPr>
              <a:t>•  </a:t>
            </a:r>
            <a:r>
              <a:rPr sz="1700" b="0" i="0">
                <a:solidFill>
                  <a:srgbClr val="162A31"/>
                </a:solidFill>
                <a:latin typeface="DejaVu Sans"/>
              </a:rPr>
              <a:t>Tinnitus (quloqdagi shovqin); koʻpincha qaytarilmas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515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DejaVu Sans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5A6A70"/>
                </a:solidFill>
                <a:latin typeface="DejaVu San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 b="1" i="0">
                <a:solidFill>
                  <a:srgbClr val="5B8C5A"/>
                </a:solidFill>
                <a:latin typeface="DejaVu Sans"/>
              </a:rPr>
              <a:t>✓  </a:t>
            </a:r>
            <a:r>
              <a:rPr sz="1800" b="0" i="0">
                <a:solidFill>
                  <a:srgbClr val="162A31"/>
                </a:solidFill>
                <a:latin typeface="DejaVu Sans"/>
              </a:rPr>
              <a:t>Quloq tovush mexanik energiyasini bosqichma-bosqich nerv impulsiga aylantiradi.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 b="1" i="0">
                <a:solidFill>
                  <a:srgbClr val="5B8C5A"/>
                </a:solidFill>
                <a:latin typeface="DejaVu Sans"/>
              </a:rPr>
              <a:t>✓  </a:t>
            </a:r>
            <a:r>
              <a:rPr sz="1800" b="0" i="0">
                <a:solidFill>
                  <a:srgbClr val="162A31"/>
                </a:solidFill>
                <a:latin typeface="DejaVu Sans"/>
              </a:rPr>
              <a:t>Oʻrta quloq impedans moslashuvi orqali energiya yoʻqotilishini qoplaydi (~25–30 dB).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 b="1" i="0">
                <a:solidFill>
                  <a:srgbClr val="5B8C5A"/>
                </a:solidFill>
                <a:latin typeface="DejaVu Sans"/>
              </a:rPr>
              <a:t>✓  </a:t>
            </a:r>
            <a:r>
              <a:rPr sz="1800" b="0" i="0">
                <a:solidFill>
                  <a:srgbClr val="162A31"/>
                </a:solidFill>
                <a:latin typeface="DejaVu Sans"/>
              </a:rPr>
              <a:t>Tukli hujayralar mexanotransduksiya orqali eshitishni boshlaydi; OHC esa signalni kuchaytiradi.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800" b="1" i="0">
                <a:solidFill>
                  <a:srgbClr val="5B8C5A"/>
                </a:solidFill>
                <a:latin typeface="DejaVu Sans"/>
              </a:rPr>
              <a:t>✓  </a:t>
            </a:r>
            <a:r>
              <a:rPr sz="1800" b="0" i="0">
                <a:solidFill>
                  <a:srgbClr val="162A31"/>
                </a:solidFill>
                <a:latin typeface="DejaVu Sans"/>
              </a:rPr>
              <a:t>Tonotopik tartib chigʻanoqdan eshitish poʻstlogʻigacha saqlanadi.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10908792" cy="1783080"/>
          </a:xfrm>
          <a:prstGeom prst="round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4241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3525E"/>
                </a:solidFill>
                <a:latin typeface="DejaVu Sans"/>
              </a:rPr>
              <a:t>Manbalar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5A6A70"/>
                </a:solidFill>
                <a:latin typeface="DejaVu Sans"/>
              </a:rPr>
              <a:t>• Encyclopaedia Britannica — Human ear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5A6A70"/>
                </a:solidFill>
                <a:latin typeface="DejaVu Sans"/>
              </a:rPr>
              <a:t>• NCBI StatPearls — Physiology, Cochlear Function; Neuroanatomy, Auditory Pathway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5A6A70"/>
                </a:solidFill>
                <a:latin typeface="DejaVu Sans"/>
              </a:rPr>
              <a:t>• TeachMeAnatomy — The Auditory Pathway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5A6A70"/>
                </a:solidFill>
                <a:latin typeface="DejaVu Sans"/>
              </a:rPr>
              <a:t>• UT Houston — Neuroscience Online, Ch. 12–13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